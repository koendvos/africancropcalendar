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79E3-D57A-391D-305A-D17449E51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2FB59B-08DD-D0B2-5D93-0398F5C24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ADE03-187B-6C4F-1D65-C8F58AFA2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4A7F-9EF4-4068-BBC1-4DAB96FA60C3}" type="datetimeFigureOut">
              <a:rPr lang="en-BE" smtClean="0"/>
              <a:t>03/24/2025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7C026-948F-C9DC-4BB6-DFA8CE8F2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87482-8A69-C442-1AE9-6AE9ED4DF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6245-E4E4-434B-AD66-0B19D37E900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03772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7E2BE-9DB0-F874-4ACD-682051F7D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C3D5D-0F00-8B09-D068-D523120FC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C8333-E2A8-9872-1950-7A4B1ED2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4A7F-9EF4-4068-BBC1-4DAB96FA60C3}" type="datetimeFigureOut">
              <a:rPr lang="en-BE" smtClean="0"/>
              <a:t>03/24/2025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8DE8A-4B19-4862-B6EE-9FC195524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FC31D-68C8-BF51-9BD9-808457583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6245-E4E4-434B-AD66-0B19D37E900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63952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F5489-C705-2FF9-D8FD-4DF9944B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FE9EE-E99E-F916-FD73-A327F37E0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29EEB-DC8F-B93F-F119-6F7FC2048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4A7F-9EF4-4068-BBC1-4DAB96FA60C3}" type="datetimeFigureOut">
              <a:rPr lang="en-BE" smtClean="0"/>
              <a:t>03/24/2025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E5499-4976-8531-E4D4-C15B0A58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EA16A-193E-8C8E-8CB9-B843AE538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6245-E4E4-434B-AD66-0B19D37E900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93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FB311-A50C-4711-AD92-C53D6DBC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0980B-1DF4-BC4E-0392-4C5E24D2B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E2C6D-6FAB-1CBE-8197-4B44525ED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96B05-CCAD-1A56-D4A9-993B5D27A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4A7F-9EF4-4068-BBC1-4DAB96FA60C3}" type="datetimeFigureOut">
              <a:rPr lang="en-BE" smtClean="0"/>
              <a:t>03/24/2025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2E1E5-C3BA-5305-332E-1CAFCA178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015BA-252F-C45B-4E37-13C95EB7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6245-E4E4-434B-AD66-0B19D37E900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34609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CA7E-DF19-B085-2997-46789A6B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986C6-C98C-F3B7-4B03-6D0A761DE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AC601-030F-E73F-A296-30DBD4D86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7E18A-8E6B-644F-6EF6-837FEF1610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B964A1-8896-21F5-3A85-7F574300F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BE2122-01BD-E1A8-239D-58FD98CE9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4A7F-9EF4-4068-BBC1-4DAB96FA60C3}" type="datetimeFigureOut">
              <a:rPr lang="en-BE" smtClean="0"/>
              <a:t>03/24/2025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9F9B37-9388-6AAE-FAE3-D29D75404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E5AB8-7C00-A606-931A-4A645CE1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6245-E4E4-434B-AD66-0B19D37E900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026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885C0-3BA7-57C8-54F7-2A5AD1880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823152-6CAA-7A60-A0ED-69AF44194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4A7F-9EF4-4068-BBC1-4DAB96FA60C3}" type="datetimeFigureOut">
              <a:rPr lang="en-BE" smtClean="0"/>
              <a:t>03/24/2025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E7250-6D33-2EBA-DE20-DCD81B8D7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6488C-0B02-1D9A-6892-75EF4FB2A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6245-E4E4-434B-AD66-0B19D37E900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7387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B34417-4B8D-837F-3823-C91A54E0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4A7F-9EF4-4068-BBC1-4DAB96FA60C3}" type="datetimeFigureOut">
              <a:rPr lang="en-BE" smtClean="0"/>
              <a:t>03/24/2025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E9A662-E272-E96E-4E14-76FBAE2D6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C459A-D141-38C5-D36A-8ADF3CBF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6245-E4E4-434B-AD66-0B19D37E900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8705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5A03B-4A2E-FCF0-8F60-1E7E7196D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D140B-697B-4293-C25D-A0EFA4484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E48E2-3186-8BBD-3CEF-3E1FE3965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4A277-5D3E-041C-A7C0-0F8FDEC5A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4A7F-9EF4-4068-BBC1-4DAB96FA60C3}" type="datetimeFigureOut">
              <a:rPr lang="en-BE" smtClean="0"/>
              <a:t>03/24/2025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F0F6D-2D49-D693-07F3-07CBFD08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DF3B7-F3DA-647E-88AC-BA38A119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6245-E4E4-434B-AD66-0B19D37E900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4655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75C0-FBCE-1AE0-6A6E-37BB6157B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E70F2-E343-B4C3-2100-6DB587073C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62C6D-7A96-D639-5D5C-4F1F04F27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875A1A-7405-AA34-AF09-D087AFD6F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4A7F-9EF4-4068-BBC1-4DAB96FA60C3}" type="datetimeFigureOut">
              <a:rPr lang="en-BE" smtClean="0"/>
              <a:t>03/24/2025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51289-4BB1-6FB1-26CD-23F78C08E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D31EE-25AF-D2A0-2784-4FEEB57EF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6245-E4E4-434B-AD66-0B19D37E900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3103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1CCF7-7975-F0A0-5FC7-A4318DB75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60C5F0-928A-A152-A526-574497871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54103-4A71-E869-BEA0-9B0CCE8A4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4A7F-9EF4-4068-BBC1-4DAB96FA60C3}" type="datetimeFigureOut">
              <a:rPr lang="en-BE" smtClean="0"/>
              <a:t>03/24/2025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0DCF4-4053-8F70-B8CA-CA37D98F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E8C5E-7F9D-9AF8-ABC1-F3552EF2A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6245-E4E4-434B-AD66-0B19D37E900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1232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689E1D-DBAD-57A6-BDC6-7D9FC2418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996C47-1216-CD4D-2844-E151AC804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163B3-F3D9-3C7E-3308-E6D7F82E0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84A7F-9EF4-4068-BBC1-4DAB96FA60C3}" type="datetimeFigureOut">
              <a:rPr lang="en-BE" smtClean="0"/>
              <a:t>03/24/2025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F4727-F60E-8A52-6DBB-B9BB555C0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8DDA5-9EF3-1B28-E01E-0DB9201F1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56245-E4E4-434B-AD66-0B19D37E900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8644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741ED4-096E-0813-9D73-C07FC5CAE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116A2-A525-979D-1E46-22577A900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6B0CA-EC4B-9A8E-E0D2-0D3A8A094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384A7F-9EF4-4068-BBC1-4DAB96FA60C3}" type="datetimeFigureOut">
              <a:rPr lang="en-BE" smtClean="0"/>
              <a:t>03/24/2025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1870D-F3C5-C9D7-D833-442116AC45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38E4F-8085-31FA-8DB1-579F39600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56245-E4E4-434B-AD66-0B19D37E900C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04114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2E2104-3195-BC7D-595F-48AA41555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438303"/>
              </p:ext>
            </p:extLst>
          </p:nvPr>
        </p:nvGraphicFramePr>
        <p:xfrm>
          <a:off x="647700" y="811106"/>
          <a:ext cx="8442319" cy="2956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5235">
                  <a:extLst>
                    <a:ext uri="{9D8B030D-6E8A-4147-A177-3AD203B41FA5}">
                      <a16:colId xmlns:a16="http://schemas.microsoft.com/office/drawing/2014/main" val="4136986726"/>
                    </a:ext>
                  </a:extLst>
                </a:gridCol>
                <a:gridCol w="599757">
                  <a:extLst>
                    <a:ext uri="{9D8B030D-6E8A-4147-A177-3AD203B41FA5}">
                      <a16:colId xmlns:a16="http://schemas.microsoft.com/office/drawing/2014/main" val="3496016960"/>
                    </a:ext>
                  </a:extLst>
                </a:gridCol>
                <a:gridCol w="599757">
                  <a:extLst>
                    <a:ext uri="{9D8B030D-6E8A-4147-A177-3AD203B41FA5}">
                      <a16:colId xmlns:a16="http://schemas.microsoft.com/office/drawing/2014/main" val="1197085550"/>
                    </a:ext>
                  </a:extLst>
                </a:gridCol>
                <a:gridCol w="599757">
                  <a:extLst>
                    <a:ext uri="{9D8B030D-6E8A-4147-A177-3AD203B41FA5}">
                      <a16:colId xmlns:a16="http://schemas.microsoft.com/office/drawing/2014/main" val="4259047254"/>
                    </a:ext>
                  </a:extLst>
                </a:gridCol>
                <a:gridCol w="599757">
                  <a:extLst>
                    <a:ext uri="{9D8B030D-6E8A-4147-A177-3AD203B41FA5}">
                      <a16:colId xmlns:a16="http://schemas.microsoft.com/office/drawing/2014/main" val="1357307931"/>
                    </a:ext>
                  </a:extLst>
                </a:gridCol>
                <a:gridCol w="599757">
                  <a:extLst>
                    <a:ext uri="{9D8B030D-6E8A-4147-A177-3AD203B41FA5}">
                      <a16:colId xmlns:a16="http://schemas.microsoft.com/office/drawing/2014/main" val="1405759925"/>
                    </a:ext>
                  </a:extLst>
                </a:gridCol>
                <a:gridCol w="599757">
                  <a:extLst>
                    <a:ext uri="{9D8B030D-6E8A-4147-A177-3AD203B41FA5}">
                      <a16:colId xmlns:a16="http://schemas.microsoft.com/office/drawing/2014/main" val="1517454556"/>
                    </a:ext>
                  </a:extLst>
                </a:gridCol>
                <a:gridCol w="599757">
                  <a:extLst>
                    <a:ext uri="{9D8B030D-6E8A-4147-A177-3AD203B41FA5}">
                      <a16:colId xmlns:a16="http://schemas.microsoft.com/office/drawing/2014/main" val="683717110"/>
                    </a:ext>
                  </a:extLst>
                </a:gridCol>
                <a:gridCol w="599757">
                  <a:extLst>
                    <a:ext uri="{9D8B030D-6E8A-4147-A177-3AD203B41FA5}">
                      <a16:colId xmlns:a16="http://schemas.microsoft.com/office/drawing/2014/main" val="3625479826"/>
                    </a:ext>
                  </a:extLst>
                </a:gridCol>
                <a:gridCol w="599757">
                  <a:extLst>
                    <a:ext uri="{9D8B030D-6E8A-4147-A177-3AD203B41FA5}">
                      <a16:colId xmlns:a16="http://schemas.microsoft.com/office/drawing/2014/main" val="2272428349"/>
                    </a:ext>
                  </a:extLst>
                </a:gridCol>
                <a:gridCol w="599757">
                  <a:extLst>
                    <a:ext uri="{9D8B030D-6E8A-4147-A177-3AD203B41FA5}">
                      <a16:colId xmlns:a16="http://schemas.microsoft.com/office/drawing/2014/main" val="2789901859"/>
                    </a:ext>
                  </a:extLst>
                </a:gridCol>
                <a:gridCol w="599757">
                  <a:extLst>
                    <a:ext uri="{9D8B030D-6E8A-4147-A177-3AD203B41FA5}">
                      <a16:colId xmlns:a16="http://schemas.microsoft.com/office/drawing/2014/main" val="2922578702"/>
                    </a:ext>
                  </a:extLst>
                </a:gridCol>
                <a:gridCol w="599757">
                  <a:extLst>
                    <a:ext uri="{9D8B030D-6E8A-4147-A177-3AD203B41FA5}">
                      <a16:colId xmlns:a16="http://schemas.microsoft.com/office/drawing/2014/main" val="1880147457"/>
                    </a:ext>
                  </a:extLst>
                </a:gridCol>
              </a:tblGrid>
              <a:tr h="225214">
                <a:tc rowSpan="2">
                  <a:txBody>
                    <a:bodyPr/>
                    <a:lstStyle/>
                    <a:p>
                      <a:pPr algn="l"/>
                      <a:r>
                        <a:rPr lang="en-US" dirty="0"/>
                        <a:t>Ethiopia</a:t>
                      </a:r>
                      <a:endParaRPr lang="en-B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BE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0">
                      <a:fgClr>
                        <a:srgbClr val="00B0F0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BE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0">
                      <a:fgClr>
                        <a:srgbClr val="00B0F0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BE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0">
                      <a:fgClr>
                        <a:srgbClr val="00B0F0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0">
                      <a:fgClr>
                        <a:srgbClr val="00B0F0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0">
                      <a:fgClr>
                        <a:srgbClr val="00B0F0"/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787580804"/>
                  </a:ext>
                </a:extLst>
              </a:tr>
              <a:tr h="179494">
                <a:tc vMerge="1"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BE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BE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BE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0">
                      <a:fgClr>
                        <a:schemeClr val="accent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0">
                      <a:fgClr>
                        <a:schemeClr val="accent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146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Mali</a:t>
                      </a:r>
                      <a:endParaRPr lang="en-B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0">
                      <a:fgClr>
                        <a:schemeClr val="accent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0">
                      <a:fgClr>
                        <a:srgbClr val="00B0F0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518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Malawi*</a:t>
                      </a:r>
                      <a:endParaRPr lang="en-B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73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Niger</a:t>
                      </a:r>
                      <a:endParaRPr lang="en-B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458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Nigeria</a:t>
                      </a:r>
                      <a:endParaRPr lang="en-B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0">
                      <a:fgClr>
                        <a:schemeClr val="accent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pct50">
                      <a:fgClr>
                        <a:srgbClr val="00B0F0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5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Uganda</a:t>
                      </a:r>
                      <a:endParaRPr lang="en-B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63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</a:t>
                      </a:r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</a:t>
                      </a:r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</a:t>
                      </a:r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</a:t>
                      </a:r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en-B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094208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C1FD838-6A3D-256F-CE86-87DB3775C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419759"/>
              </p:ext>
            </p:extLst>
          </p:nvPr>
        </p:nvGraphicFramePr>
        <p:xfrm>
          <a:off x="2994660" y="3927686"/>
          <a:ext cx="56184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498">
                  <a:extLst>
                    <a:ext uri="{9D8B030D-6E8A-4147-A177-3AD203B41FA5}">
                      <a16:colId xmlns:a16="http://schemas.microsoft.com/office/drawing/2014/main" val="221397209"/>
                    </a:ext>
                  </a:extLst>
                </a:gridCol>
                <a:gridCol w="2051882">
                  <a:extLst>
                    <a:ext uri="{9D8B030D-6E8A-4147-A177-3AD203B41FA5}">
                      <a16:colId xmlns:a16="http://schemas.microsoft.com/office/drawing/2014/main" val="2070885058"/>
                    </a:ext>
                  </a:extLst>
                </a:gridCol>
                <a:gridCol w="597583">
                  <a:extLst>
                    <a:ext uri="{9D8B030D-6E8A-4147-A177-3AD203B41FA5}">
                      <a16:colId xmlns:a16="http://schemas.microsoft.com/office/drawing/2014/main" val="4269436102"/>
                    </a:ext>
                  </a:extLst>
                </a:gridCol>
                <a:gridCol w="2361517">
                  <a:extLst>
                    <a:ext uri="{9D8B030D-6E8A-4147-A177-3AD203B41FA5}">
                      <a16:colId xmlns:a16="http://schemas.microsoft.com/office/drawing/2014/main" val="4066054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B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Post-Planting</a:t>
                      </a:r>
                      <a:endParaRPr lang="en-B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B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Post-Harvesting</a:t>
                      </a:r>
                      <a:endParaRPr lang="en-B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50592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20617E-6509-3DC2-DD5D-5C924FAA6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697115"/>
              </p:ext>
            </p:extLst>
          </p:nvPr>
        </p:nvGraphicFramePr>
        <p:xfrm>
          <a:off x="2994660" y="4458546"/>
          <a:ext cx="56184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498">
                  <a:extLst>
                    <a:ext uri="{9D8B030D-6E8A-4147-A177-3AD203B41FA5}">
                      <a16:colId xmlns:a16="http://schemas.microsoft.com/office/drawing/2014/main" val="221397209"/>
                    </a:ext>
                  </a:extLst>
                </a:gridCol>
                <a:gridCol w="2051882">
                  <a:extLst>
                    <a:ext uri="{9D8B030D-6E8A-4147-A177-3AD203B41FA5}">
                      <a16:colId xmlns:a16="http://schemas.microsoft.com/office/drawing/2014/main" val="2070885058"/>
                    </a:ext>
                  </a:extLst>
                </a:gridCol>
                <a:gridCol w="597583">
                  <a:extLst>
                    <a:ext uri="{9D8B030D-6E8A-4147-A177-3AD203B41FA5}">
                      <a16:colId xmlns:a16="http://schemas.microsoft.com/office/drawing/2014/main" val="4269436102"/>
                    </a:ext>
                  </a:extLst>
                </a:gridCol>
                <a:gridCol w="2361517">
                  <a:extLst>
                    <a:ext uri="{9D8B030D-6E8A-4147-A177-3AD203B41FA5}">
                      <a16:colId xmlns:a16="http://schemas.microsoft.com/office/drawing/2014/main" val="40660545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B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Standard</a:t>
                      </a:r>
                      <a:endParaRPr lang="en-B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B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pattFill prst="pct50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Occasionally</a:t>
                      </a:r>
                      <a:endParaRPr lang="en-B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505922"/>
                  </a:ext>
                </a:extLst>
              </a:tr>
            </a:tbl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EC77269B-76F0-F392-DE6E-203CDF269C7D}"/>
              </a:ext>
            </a:extLst>
          </p:cNvPr>
          <p:cNvSpPr txBox="1"/>
          <p:nvPr/>
        </p:nvSpPr>
        <p:spPr>
          <a:xfrm>
            <a:off x="730250" y="5441950"/>
            <a:ext cx="970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Visiting dates for the different countries. Patched months indicate that field visit occasionally extended into these months. *For Malawi, in the </a:t>
            </a:r>
            <a:r>
              <a:rPr lang="en-US" dirty="0" err="1"/>
              <a:t>Fouth</a:t>
            </a:r>
            <a:r>
              <a:rPr lang="en-US" dirty="0"/>
              <a:t> and Fifth Integrated Household Surveys, households were only visited once.</a:t>
            </a:r>
            <a:r>
              <a:rPr lang="de-DE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14167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Breitbild</PresentationFormat>
  <Paragraphs>23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PowerPoint-Präsentation</vt:lpstr>
    </vt:vector>
  </TitlesOfParts>
  <Company>VITO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Koen De Vos</dc:creator>
  <cp:lastModifiedBy>Katharina Waha</cp:lastModifiedBy>
  <cp:revision>2</cp:revision>
  <dcterms:created xsi:type="dcterms:W3CDTF">2025-03-06T08:52:43Z</dcterms:created>
  <dcterms:modified xsi:type="dcterms:W3CDTF">2025-03-24T13:53:34Z</dcterms:modified>
</cp:coreProperties>
</file>